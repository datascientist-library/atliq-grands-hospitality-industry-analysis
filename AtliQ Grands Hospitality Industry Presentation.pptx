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282" r:id="rId6"/>
    <p:sldId id="343" r:id="rId7"/>
    <p:sldId id="346" r:id="rId8"/>
    <p:sldId id="347" r:id="rId9"/>
    <p:sldId id="334" r:id="rId10"/>
    <p:sldId id="348" r:id="rId11"/>
    <p:sldId id="349" r:id="rId12"/>
    <p:sldId id="350" r:id="rId13"/>
    <p:sldId id="351" r:id="rId14"/>
    <p:sldId id="352" r:id="rId15"/>
    <p:sldId id="342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C4E9"/>
    <a:srgbClr val="D4D593"/>
    <a:srgbClr val="00B050"/>
    <a:srgbClr val="00421E"/>
    <a:srgbClr val="202C8F"/>
    <a:srgbClr val="FDFBF6"/>
    <a:srgbClr val="F5CDCE"/>
    <a:srgbClr val="DF8C8C"/>
    <a:srgbClr val="E6F0FE"/>
    <a:srgbClr val="CDB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388" autoAdjust="0"/>
  </p:normalViewPr>
  <p:slideViewPr>
    <p:cSldViewPr snapToGrid="0" snapToObjects="1">
      <p:cViewPr varScale="1">
        <p:scale>
          <a:sx n="68" d="100"/>
          <a:sy n="68" d="100"/>
        </p:scale>
        <p:origin x="816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AFDA-24A1-186E-7332-A4FD960BC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6B7E01-BA80-EBA8-9889-47A346C19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261C9D-C8CA-15E5-0778-A46F94E76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107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8E0C7-A97D-0F70-CC0D-257AB08F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6AF6B8-61DA-E3B4-9A7D-9EA460F73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53C28-A578-B4B4-CA4E-3896EE58F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618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65129-7FEE-3346-473E-D88069D2F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0BF30-16F6-6B3C-52FE-F33B938D2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C2A43-97EA-0F2A-0CA6-61D3C3933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024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8CB7B-C4FA-0E78-2B25-4F7B90E0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5DE77-D8D5-5A16-F0CD-94A4D0A1F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5601B-6CEA-C5EA-7BEF-EFDC3721C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225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1D6DF-8EA6-FEF5-5E18-50FEEEC9B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AE31C7-FD29-F8FD-70BA-55EB8988F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C6BA1-8210-5261-EFA8-41ACE3620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873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3BF8A-30AC-DEBB-B242-F6592B01A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0E364-7757-EF9F-1030-65C77840E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7FD59-01C0-0303-AC20-2459AF967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078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07336-6CE2-418F-851C-96E6D0185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A7C71-F31A-56B2-62CC-68BAD8748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ADA39-7A2D-6352-4782-EB04A6A5C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824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B6801-F3CF-D084-3B57-5E2B00467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2F589-B33C-1C2A-1924-7B301C049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0A047-2BD9-62E9-FC20-B8F90E8F1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407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BA014-6F85-C0B0-9A31-E7BC7C6E8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5E637-80CE-0BA1-91D1-B5B46EC38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9DFE0-6632-2635-A34F-8D9A2B43D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2762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D3FBC-F811-DCE2-7F18-7C49852D2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80571-BA25-40A3-6EBF-A5AEB33A7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68266-0DAE-BCA0-F5EA-CA32945F3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43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3981" y="810227"/>
            <a:ext cx="6624038" cy="3831221"/>
          </a:xfrm>
        </p:spPr>
        <p:txBody>
          <a:bodyPr anchor="ctr"/>
          <a:lstStyle/>
          <a:p>
            <a:r>
              <a:rPr lang="en-IN" dirty="0" err="1"/>
              <a:t>AtliQ</a:t>
            </a:r>
            <a:r>
              <a:rPr lang="en-IN" dirty="0"/>
              <a:t> Grands Hospitality Industry</a:t>
            </a:r>
            <a:br>
              <a:rPr lang="en-IN" dirty="0"/>
            </a:br>
            <a:r>
              <a:rPr lang="en-IN" dirty="0"/>
              <a:t>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560192"/>
            <a:ext cx="7965461" cy="994164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28B03-B1BB-AB54-EA36-D3F215535A2F}"/>
              </a:ext>
            </a:extLst>
          </p:cNvPr>
          <p:cNvSpPr txBox="1"/>
          <p:nvPr/>
        </p:nvSpPr>
        <p:spPr>
          <a:xfrm>
            <a:off x="3460566" y="2033794"/>
            <a:ext cx="7965460" cy="3970318"/>
          </a:xfrm>
          <a:prstGeom prst="rect">
            <a:avLst/>
          </a:prstGeom>
          <a:solidFill>
            <a:srgbClr val="AAC4E9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AtliQ</a:t>
            </a:r>
            <a:r>
              <a:rPr lang="en-US" dirty="0"/>
              <a:t> Grands is a premium hotel chain operating across multiple cities, offering high-quality accommodation and hospitality services.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brand manages a diverse portfolio of properties ranging from luxury hotels to business-class establishments.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a strong focus on customer experience, </a:t>
            </a:r>
            <a:r>
              <a:rPr lang="en-US" dirty="0" err="1"/>
              <a:t>AtliQ</a:t>
            </a:r>
            <a:r>
              <a:rPr lang="en-US" dirty="0"/>
              <a:t> Grands provides various room categories, modern amenities, and seamless booking options through multiple platforms.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part of the competitive hospitality industry, the company aims to maximize occupancy, optimize revenue, and deliver exceptional guest satisfaction across all its properties.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dashboard built during this capstone project enables data-driven decision-making to improve overall hotel performance and operational efficiency.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6D29B-B1DC-C02D-75FA-33EA535FF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FF0A9-5250-FC44-6715-74F54A6D0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560192"/>
            <a:ext cx="7965461" cy="994164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B6B9EC-A93F-46B4-0F9C-B1199E9D397A}"/>
              </a:ext>
            </a:extLst>
          </p:cNvPr>
          <p:cNvSpPr txBox="1"/>
          <p:nvPr/>
        </p:nvSpPr>
        <p:spPr>
          <a:xfrm>
            <a:off x="3460566" y="2033794"/>
            <a:ext cx="7965460" cy="4247317"/>
          </a:xfrm>
          <a:prstGeom prst="rect">
            <a:avLst/>
          </a:prstGeom>
          <a:solidFill>
            <a:srgbClr val="AAC4E9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Understand and analyse hotel performance across different properties and room types and build important hospitality KPIs such as: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ADR (Average Daily Rate)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RevPAR (Revenue per available room)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Occupancy%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SRN (Sellable room nights)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DSRN (Daily sellable room nights</a:t>
            </a:r>
            <a:r>
              <a:rPr lang="en-IN" dirty="0"/>
              <a:t>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URN (Utilized Room Nights)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BRN (Booked Room Nights).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r>
              <a:rPr lang="en-IN" dirty="0"/>
              <a:t>2.  Identify booking patterns, cancellations, no-shows, platform usage, and revenue insights.</a:t>
            </a:r>
          </a:p>
          <a:p>
            <a:endParaRPr lang="en-IN" dirty="0"/>
          </a:p>
          <a:p>
            <a:r>
              <a:rPr lang="en-IN" dirty="0"/>
              <a:t>3.  Provide an interactive dashboard for decision-making and improve data quality through cleaning, transformations, and modelling.</a:t>
            </a:r>
          </a:p>
        </p:txBody>
      </p:sp>
    </p:spTree>
    <p:extLst>
      <p:ext uri="{BB962C8B-B14F-4D97-AF65-F5344CB8AC3E}">
        <p14:creationId xmlns:p14="http://schemas.microsoft.com/office/powerpoint/2010/main" val="2586974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42471-050E-CA63-ACEC-EE02A5567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56BB2-4A0C-D452-D768-AF19961DA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560192"/>
            <a:ext cx="7965461" cy="994164"/>
          </a:xfrm>
        </p:spPr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6AC67-F1F1-BE19-F783-7D56984E5D54}"/>
              </a:ext>
            </a:extLst>
          </p:cNvPr>
          <p:cNvSpPr txBox="1"/>
          <p:nvPr/>
        </p:nvSpPr>
        <p:spPr>
          <a:xfrm>
            <a:off x="3460566" y="2033794"/>
            <a:ext cx="7965460" cy="2308324"/>
          </a:xfrm>
          <a:prstGeom prst="rect">
            <a:avLst/>
          </a:prstGeom>
          <a:solidFill>
            <a:srgbClr val="AAC4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following has 5 tables out of which some of the columns are mentioned below: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Date table (date, week no, </a:t>
            </a:r>
            <a:r>
              <a:rPr lang="en-US" dirty="0" err="1"/>
              <a:t>day_type</a:t>
            </a:r>
            <a:r>
              <a:rPr lang="en-US" dirty="0"/>
              <a:t>, mmm </a:t>
            </a:r>
            <a:r>
              <a:rPr lang="en-US" dirty="0" err="1"/>
              <a:t>yy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Property details (</a:t>
            </a:r>
            <a:r>
              <a:rPr lang="en-US" dirty="0" err="1"/>
              <a:t>property_id</a:t>
            </a:r>
            <a:r>
              <a:rPr lang="en-US" dirty="0"/>
              <a:t>, name, city, category)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Room details (</a:t>
            </a:r>
            <a:r>
              <a:rPr lang="en-US" dirty="0" err="1"/>
              <a:t>room_id</a:t>
            </a:r>
            <a:r>
              <a:rPr lang="en-US" dirty="0"/>
              <a:t>, </a:t>
            </a:r>
            <a:r>
              <a:rPr lang="en-US" dirty="0" err="1"/>
              <a:t>room_class</a:t>
            </a:r>
            <a:r>
              <a:rPr lang="en-US" dirty="0"/>
              <a:t>, capacity)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Booking information (</a:t>
            </a:r>
            <a:r>
              <a:rPr lang="en-US" dirty="0" err="1"/>
              <a:t>booking_id</a:t>
            </a:r>
            <a:r>
              <a:rPr lang="en-US" dirty="0"/>
              <a:t>, </a:t>
            </a:r>
            <a:r>
              <a:rPr lang="en-US" dirty="0" err="1"/>
              <a:t>booking_date</a:t>
            </a:r>
            <a:r>
              <a:rPr lang="en-US" dirty="0"/>
              <a:t>, status, room type, number of guests, rating)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Financials (</a:t>
            </a:r>
            <a:r>
              <a:rPr lang="en-US" dirty="0" err="1"/>
              <a:t>revenue_generated</a:t>
            </a:r>
            <a:r>
              <a:rPr lang="en-US" dirty="0"/>
              <a:t>, </a:t>
            </a:r>
            <a:r>
              <a:rPr lang="en-US" dirty="0" err="1"/>
              <a:t>revenue_realized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82107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2F1E4-BE27-1FC5-36D0-9F7FDB1ED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DABC67-87B3-B964-E0AF-2EDF5D0B5005}"/>
              </a:ext>
            </a:extLst>
          </p:cNvPr>
          <p:cNvSpPr txBox="1"/>
          <p:nvPr/>
        </p:nvSpPr>
        <p:spPr>
          <a:xfrm>
            <a:off x="3460566" y="2033794"/>
            <a:ext cx="7965460" cy="3970318"/>
          </a:xfrm>
          <a:prstGeom prst="rect">
            <a:avLst/>
          </a:prstGeom>
          <a:solidFill>
            <a:srgbClr val="AAC4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For the following we are using Key Performance Indicators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ADR (Average Daily Rate): The average revenue earned per room that was actually sold.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RevPAR (Revenue per Available Room): The revenue generated per available room, whether sold or not.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Occupancy %: The percentage of available rooms that were occupied.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SRN (Sellable Room Nights): The total number of rooms that can be sold during a given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DSRN (Daily Sellable Room Nights): The number of rooms available for sale on a single day.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URN (Utilized Room Nights): The total number of rooms that were actually occupied.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BRN (Booked Room Nights): The total rooms booked, including stays, cancellations, and no-shows.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915E87-BC94-501D-DBD1-57A9244D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560192"/>
            <a:ext cx="8468838" cy="994164"/>
          </a:xfrm>
        </p:spPr>
        <p:txBody>
          <a:bodyPr/>
          <a:lstStyle/>
          <a:p>
            <a:r>
              <a:rPr lang="en-US" dirty="0"/>
              <a:t>KEY PERFORMANCE INDICATOR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789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99CFF-6629-34C2-07F1-06E7538A9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7C7F99C-7B75-E336-1512-8C31B4DF8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628" y="244799"/>
            <a:ext cx="5774743" cy="34367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8F7B0E-69EB-C0D8-5FB1-848713670F5B}"/>
              </a:ext>
            </a:extLst>
          </p:cNvPr>
          <p:cNvSpPr txBox="1"/>
          <p:nvPr/>
        </p:nvSpPr>
        <p:spPr>
          <a:xfrm>
            <a:off x="1080866" y="4066180"/>
            <a:ext cx="10030265" cy="1754326"/>
          </a:xfrm>
          <a:prstGeom prst="rect">
            <a:avLst/>
          </a:prstGeom>
          <a:solidFill>
            <a:srgbClr val="AAC4E9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Weekday revenue remains significantly higher than weekend revenue across all weeks, consistently ranging around 79 M to 96 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weekday and weekend revenues show a recurring up-and-down pattern, suggesting weekly demand fluctuations.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noticeable dip appears in the final week, where both weekday (79M) and weekend (36M) revenues decline, indicating a possible drop in bookings during that period.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472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1D61B-C442-E0A3-49D7-D9F71FF0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E6BDDD0-EAF2-A0BD-545E-31AD84C841E4}"/>
              </a:ext>
            </a:extLst>
          </p:cNvPr>
          <p:cNvSpPr txBox="1"/>
          <p:nvPr/>
        </p:nvSpPr>
        <p:spPr>
          <a:xfrm>
            <a:off x="1080866" y="4066180"/>
            <a:ext cx="10030265" cy="1754326"/>
          </a:xfrm>
          <a:prstGeom prst="rect">
            <a:avLst/>
          </a:prstGeom>
          <a:solidFill>
            <a:srgbClr val="AAC4E9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Weekend REVPAR consistently outperforms weekday REVPAR, showing stronger demand and higher revenue generation during weekends across all weeks.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weekday and weekend REVPAR exhibit a repeating pattern of peaks and dips, suggesting cyclical demand fluctuations tied to weekly guest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Despite the variations, weekend REVPAR maintains a higher and more stable range, indicating effective pricing and occupancy strategies during high-demand periods.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E50480-D47A-BBF0-72A3-BE61A1BA2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036" y="201449"/>
            <a:ext cx="5699927" cy="339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944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90EFC-3CD5-DC25-14B1-70718B49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CB40FDC-E6B5-039F-7E5C-CB54A3D28210}"/>
              </a:ext>
            </a:extLst>
          </p:cNvPr>
          <p:cNvSpPr txBox="1"/>
          <p:nvPr/>
        </p:nvSpPr>
        <p:spPr>
          <a:xfrm>
            <a:off x="1080866" y="4572617"/>
            <a:ext cx="10030265" cy="646331"/>
          </a:xfrm>
          <a:prstGeom prst="rect">
            <a:avLst/>
          </a:prstGeom>
          <a:solidFill>
            <a:srgbClr val="AAC4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DSRN (Daily rate for 1 night stay) remains consistently stable across all weeks, with rates holding steady at approximately 2.5K regardless of the time period.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E55A2C-AB51-1D27-1821-4BB955152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569" y="142284"/>
            <a:ext cx="6638861" cy="399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72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36771-30D4-9A88-111B-D51BFA16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578DD45-3170-43E2-5B3D-30FB3E55A78B}"/>
              </a:ext>
            </a:extLst>
          </p:cNvPr>
          <p:cNvSpPr txBox="1"/>
          <p:nvPr/>
        </p:nvSpPr>
        <p:spPr>
          <a:xfrm>
            <a:off x="1080866" y="4178721"/>
            <a:ext cx="10030265" cy="1754326"/>
          </a:xfrm>
          <a:prstGeom prst="rect">
            <a:avLst/>
          </a:prstGeom>
          <a:solidFill>
            <a:srgbClr val="AAC4E9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Occupancy rates show notable variability, with weekends experiencing lower occupancy compared to weekdays, particularly in Weeks 21, 23, 26 and 30.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Despite some fluctuations, weekday occupancy remains relatively stable around 60-67%, while weekend occupancy fluctuates more significantly, with a low of 49.03% in Week 31.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sharp decline in weekend occupancy is observed in Week 30, dropping to just 55.83%, suggesting potential challenges in weekend demand during that period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6E3098-D894-B1EF-2B71-C9265749DF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036" y="251405"/>
            <a:ext cx="5699927" cy="340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827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AD2C1-D5FF-F136-0616-F60F9807C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69EAD32-8387-40A2-81B7-1E87C61914B1}"/>
              </a:ext>
            </a:extLst>
          </p:cNvPr>
          <p:cNvSpPr txBox="1"/>
          <p:nvPr/>
        </p:nvSpPr>
        <p:spPr>
          <a:xfrm>
            <a:off x="1080866" y="4178721"/>
            <a:ext cx="10030265" cy="1754326"/>
          </a:xfrm>
          <a:prstGeom prst="rect">
            <a:avLst/>
          </a:prstGeom>
          <a:solidFill>
            <a:srgbClr val="AAC4E9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ADR shows a generally upward trend from Week 19 to Week 31, indicating strengthening room-rate performance over the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Despite minor week-to-week fluctuations, ADR consistently stays within a healthy band, reflecting stable demand and effective pricing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peaks in Weeks 27 and 31 suggest periods of higher revenue optimization, aligning with stronger booking activity or targeted rate management.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AA292C-A9D7-0FA7-C439-C45A5A561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036" y="216439"/>
            <a:ext cx="5699927" cy="341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74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BF1F0-BFD1-1BC7-6334-6BB34C627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469B231-EC80-905B-313B-BBA5C284AFF5}"/>
              </a:ext>
            </a:extLst>
          </p:cNvPr>
          <p:cNvSpPr txBox="1"/>
          <p:nvPr/>
        </p:nvSpPr>
        <p:spPr>
          <a:xfrm>
            <a:off x="1080866" y="4178721"/>
            <a:ext cx="10030265" cy="2308324"/>
          </a:xfrm>
          <a:prstGeom prst="rect">
            <a:avLst/>
          </a:prstGeom>
          <a:solidFill>
            <a:srgbClr val="AAC4E9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Realisation</a:t>
            </a:r>
            <a:r>
              <a:rPr lang="en-US" dirty="0"/>
              <a:t> percentages show steady performance throughout the period, with weekdays consistently outperforming weekends.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 weeks showed 71–72% realization which dropped spontaneously on Week 22 for weekend.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While weekday </a:t>
            </a:r>
            <a:r>
              <a:rPr lang="en-US" dirty="0" err="1"/>
              <a:t>realisation</a:t>
            </a:r>
            <a:r>
              <a:rPr lang="en-US" dirty="0"/>
              <a:t> remains stable around 70%, weekend </a:t>
            </a:r>
            <a:r>
              <a:rPr lang="en-US" dirty="0" err="1"/>
              <a:t>realisation</a:t>
            </a:r>
            <a:r>
              <a:rPr lang="en-US" dirty="0"/>
              <a:t> shows more variability, reaching a peak of 72.22% in Week 28.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weekday and weekend </a:t>
            </a:r>
            <a:r>
              <a:rPr lang="en-US" dirty="0" err="1"/>
              <a:t>realisation</a:t>
            </a:r>
            <a:r>
              <a:rPr lang="en-US" dirty="0"/>
              <a:t> percentages experience similar trends, with occasional spikes, particularly in Weeks 23, indicating higher occupancy or better pricing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88763B-C68B-4178-8E8A-988CC5113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561" y="186457"/>
            <a:ext cx="5746877" cy="339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856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F2F7D-7E4B-13F6-D0CB-7BED49A18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5">
            <a:extLst>
              <a:ext uri="{FF2B5EF4-FFF2-40B4-BE49-F238E27FC236}">
                <a16:creationId xmlns:a16="http://schemas.microsoft.com/office/drawing/2014/main" id="{5D3E5995-E824-1C9B-263F-8EA42E6E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471" y="367727"/>
            <a:ext cx="6195055" cy="652073"/>
          </a:xfrm>
        </p:spPr>
        <p:txBody>
          <a:bodyPr/>
          <a:lstStyle/>
          <a:p>
            <a:r>
              <a:rPr lang="en-US" dirty="0"/>
              <a:t>POWER BI DASHBOARD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7404F-CF3B-EE56-59CE-8ACE01BB3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427" y="1019800"/>
            <a:ext cx="10213145" cy="573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78873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{DEAAB9AC-1D74-4F3D-BA4D-35B6210F12BD}tf78438558_win32</Template>
  <TotalTime>1331</TotalTime>
  <Words>838</Words>
  <Application>Microsoft Office PowerPoint</Application>
  <PresentationFormat>Widescreen</PresentationFormat>
  <Paragraphs>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Courier New</vt:lpstr>
      <vt:lpstr>Sabon Next LT</vt:lpstr>
      <vt:lpstr>Custom</vt:lpstr>
      <vt:lpstr>AtliQ Grands Hospitality Industry ANALYSIS</vt:lpstr>
      <vt:lpstr>INTRODUCTION</vt:lpstr>
      <vt:lpstr>OBJECTIVES</vt:lpstr>
      <vt:lpstr>DATA OVERVIEW</vt:lpstr>
      <vt:lpstr>KEY PERFORMANCE INDICATOR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 BI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Forza Motorsport</dc:creator>
  <cp:lastModifiedBy>Forza Motorsport</cp:lastModifiedBy>
  <cp:revision>75</cp:revision>
  <dcterms:created xsi:type="dcterms:W3CDTF">2025-07-01T15:14:58Z</dcterms:created>
  <dcterms:modified xsi:type="dcterms:W3CDTF">2025-12-02T22:57:29Z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